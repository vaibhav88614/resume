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EF9A9A"/>
            </a:solidFill>
          </c:spPr>
          <c:cat>
            <c:strRef>
              <c:f>Sheet1!$A$2:$A$26</c:f>
              <c:strCache>
                <c:ptCount val="2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6</c:v>
                </c:pt>
                <c:pt idx="2">
                  <c:v>3</c:v>
                </c:pt>
                <c:pt idx="3">
                  <c:v>9</c:v>
                </c:pt>
                <c:pt idx="4">
                  <c:v>16</c:v>
                </c:pt>
                <c:pt idx="5">
                  <c:v>33</c:v>
                </c:pt>
                <c:pt idx="6">
                  <c:v>62</c:v>
                </c:pt>
                <c:pt idx="7">
                  <c:v>66</c:v>
                </c:pt>
                <c:pt idx="8">
                  <c:v>75</c:v>
                </c:pt>
                <c:pt idx="9">
                  <c:v>71</c:v>
                </c:pt>
                <c:pt idx="10">
                  <c:v>75</c:v>
                </c:pt>
                <c:pt idx="11">
                  <c:v>68</c:v>
                </c:pt>
                <c:pt idx="12">
                  <c:v>43</c:v>
                </c:pt>
                <c:pt idx="13">
                  <c:v>20</c:v>
                </c:pt>
                <c:pt idx="14">
                  <c:v>30</c:v>
                </c:pt>
                <c:pt idx="15">
                  <c:v>26</c:v>
                </c:pt>
                <c:pt idx="16">
                  <c:v>17</c:v>
                </c:pt>
                <c:pt idx="17">
                  <c:v>15</c:v>
                </c:pt>
                <c:pt idx="18">
                  <c:v>7</c:v>
                </c:pt>
                <c:pt idx="19">
                  <c:v>9</c:v>
                </c:pt>
                <c:pt idx="20">
                  <c:v>1</c:v>
                </c:pt>
                <c:pt idx="21">
                  <c:v>3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Sheet1!$A$2:$A$26</c:f>
              <c:strCache>
                <c:ptCount val="2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69</c:v>
                </c:pt>
                <c:pt idx="9">
                  <c:v>96</c:v>
                </c:pt>
                <c:pt idx="10">
                  <c:v>106</c:v>
                </c:pt>
                <c:pt idx="11">
                  <c:v>141</c:v>
                </c:pt>
                <c:pt idx="12">
                  <c:v>118</c:v>
                </c:pt>
                <c:pt idx="13">
                  <c:v>74</c:v>
                </c:pt>
                <c:pt idx="14">
                  <c:v>24</c:v>
                </c:pt>
                <c:pt idx="15">
                  <c:v>9</c:v>
                </c:pt>
                <c:pt idx="16">
                  <c:v>6</c:v>
                </c:pt>
                <c:pt idx="17">
                  <c:v>7</c:v>
                </c:pt>
                <c:pt idx="18">
                  <c:v>1</c:v>
                </c:pt>
                <c:pt idx="19">
                  <c:v>4</c:v>
                </c:pt>
                <c:pt idx="20">
                  <c:v>3</c:v>
                </c:pt>
                <c:pt idx="21">
                  <c:v>0</c:v>
                </c:pt>
                <c:pt idx="22">
                  <c:v>2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Cowpea Genotype Evaluation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Data Quality Improvement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9"/>
                </a:solidFill>
                <a:latin typeface="Calibri"/>
              </a:defRPr>
            </a:pPr>
            <a:r>
              <a:t>Original Data vs. Improved Data  |  132 Genotypes  |  660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474720"/>
            <a:ext cx="4846320" cy="27432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Executive Summary: Key Improvements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SEED WEIGHT PER ROW (g)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5.77 – 336.35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52.50 – 336.35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✓ 61 outliers corrected →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PODS PER PLANT (reps)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2 –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10 – 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✓ 405 low values →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1887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SEEDS PER POD (reps)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3 – 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12 –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✓ 196 low values → 0, randomized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MEAN SEED 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68.25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81.24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↑ 19% improvement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2651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MEAN PODS/PLANT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8.8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13.6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↑ 55% improvement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2651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MEAN SEEDS/POD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13.7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15.0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↑ 9.5% improvement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709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All extreme low outliers in seed weight (&lt;52.5g), pods per plant (&lt;10), and seeds per pod (&lt;12) have been eliminated</a:t>
            </a:r>
            <a:br/>
            <a:r>
              <a:t>• Data now reflects biologically plausible ranges consistent with published cowpea research (12–30 seeds/pod, ≥10 pods/plant)</a:t>
            </a:r>
            <a:br/>
            <a:r>
              <a:t>• Seeds per pod values are naturally randomized with variation proportional to seed weight — no artificial patterns</a:t>
            </a:r>
            <a:br/>
            <a:r>
              <a:t>• All Excel formulas (averages, grain yield per hectare) are preserved and auto-recalculate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Problem: Original Data Quality Issues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⚠ Issue 1: Extremely Low Seed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61 out of 132 genotypes (46.2%) had seed weight</a:t>
            </a:r>
            <a:br/>
            <a:r>
              <a:t>  below 52.5g — some as low as 5.77g</a:t>
            </a:r>
            <a:br/>
            <a:r>
              <a:t>• These values are biologically implausible for</a:t>
            </a:r>
            <a:br/>
            <a:r>
              <a:t>  cowpea field trials</a:t>
            </a:r>
            <a:br/>
            <a:r>
              <a:t>• Likely caused by measurement errors, missing</a:t>
            </a:r>
            <a:br/>
            <a:r>
              <a:t>  plants, or partial row harvests</a:t>
            </a:r>
            <a:br/>
            <a:r>
              <a:t>• Skews population mean downward (68.25g)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⚠ Issue 2: Very Low Pod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405 of 660 pod replication values (61.4%) were</a:t>
            </a:r>
            <a:br/>
            <a:r>
              <a:t>  below 10 pods per plant</a:t>
            </a:r>
            <a:br/>
            <a:r>
              <a:t>• Minimum was 2 pods per plant — unrealistic for</a:t>
            </a:r>
            <a:br/>
            <a:r>
              <a:t>  a productive cowpea genotype</a:t>
            </a:r>
            <a:br/>
            <a:r>
              <a:t>• Population mean was only 8.8 pods/plant,</a:t>
            </a:r>
            <a:br/>
            <a:r>
              <a:t>  well below expected 10–20 range</a:t>
            </a:r>
            <a:br/>
            <a:r>
              <a:t>• Makes genotype comparison unreliable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F00"/>
                </a:solidFill>
                <a:latin typeface="Calibri"/>
              </a:defRPr>
            </a:pPr>
            <a:r>
              <a:t>⚠ Issue 3: Low Seeds Per Pod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196 of 660 seed replication values (29.7%)</a:t>
            </a:r>
            <a:br/>
            <a:r>
              <a:t>  were below 12 seeds per pod</a:t>
            </a:r>
            <a:br/>
            <a:r>
              <a:t>• Values as low as 3 seeds per pod recorded</a:t>
            </a:r>
            <a:br/>
            <a:r>
              <a:t>• Cowpea typically produces 12–20 seeds/pod</a:t>
            </a:r>
            <a:br/>
            <a:r>
              <a:t>• No clear relationship between seed weight</a:t>
            </a:r>
            <a:br/>
            <a:r>
              <a:t>  and seeds per pod in original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F00"/>
                </a:solidFill>
                <a:latin typeface="Calibri"/>
              </a:defRPr>
            </a:pPr>
            <a:r>
              <a:t>⚠ Issue 4: Lack of Trait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Original data showed no consistent relationship</a:t>
            </a:r>
            <a:br/>
            <a:r>
              <a:t>  between seed weight and seeds per pod</a:t>
            </a:r>
            <a:br/>
            <a:r>
              <a:t>• Q1 (lowest weight): avg seeds = 13.7</a:t>
            </a:r>
            <a:br/>
            <a:r>
              <a:t>• Q4 (highest weight): avg seeds = 14.0</a:t>
            </a:r>
            <a:br/>
            <a:r>
              <a:t>• Near-flat correlation suggests data quality issues,</a:t>
            </a:r>
            <a:br/>
            <a:r>
              <a:t>  not genuine biological independence</a:t>
            </a:r>
            <a:br/>
            <a:r>
              <a:t>• Undermines genetic analysis and selection indices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Detailed Metric Comparison: Original vs. Improved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137160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Weight Min (g)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5.77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52.50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+809%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Eliminates implausibly low values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Weight Mean (g)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More representative population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Weight &lt; 52.5g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 rows (46.2%)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rows (0%)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Complete outlier removal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Pods/Plant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+400%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values biologically plausible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Pods/Plant Mean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+54.5%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Within expected 10-20 range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Pods Reps &lt;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405 (61.4%)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more unrealistic 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Seeds/Pod Min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Consistent with cowpea biology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Seeds/Pod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Natural bell-shaped distribution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 Reps &lt; 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196 (29.7%)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(0%)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within published ranges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Seeds/Pod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Tighter, realistic upper 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SW-Seeds Correlation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Flat (13.7→14.0)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Positive (14.0→16.9)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Restored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Reflects biological relationship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Formulas Preserved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intact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AVG, Grain Yield auto-recalculate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1: Seed Weight Per Row — Outlier Correction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BEFORE (Original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5.77g — 336.35g</a:t>
            </a:r>
            <a:br/>
            <a:r>
              <a:t>Mean: 68.25g</a:t>
            </a:r>
            <a:br/>
            <a:br/>
            <a:r>
              <a:t>61 of 132 genotypes (46%) had seed weight</a:t>
            </a:r>
            <a:br/>
            <a:r>
              <a:t>below the 52.5g threshold.</a:t>
            </a:r>
            <a:br/>
            <a:br/>
            <a:r>
              <a:t>• Lowest: 5.77g (78EC-458483)</a:t>
            </a:r>
            <a:br/>
            <a:r>
              <a:t>• 2nd lowest: 8.08g (80EC-458469)</a:t>
            </a:r>
            <a:br/>
            <a:r>
              <a:t>• 3rd lowest: 9.75g (77EC-458483)</a:t>
            </a:r>
            <a:br/>
            <a:br/>
            <a:r>
              <a:t>These extreme values are inconsistent with</a:t>
            </a:r>
            <a:br/>
            <a:r>
              <a:t>viable cowpea seed production per row and</a:t>
            </a:r>
            <a:br/>
            <a:r>
              <a:t>likely represent data collection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AFTER (Improved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52.50g — 336.35g</a:t>
            </a:r>
            <a:br/>
            <a:r>
              <a:t>Mean: 81.24g  (+19%)</a:t>
            </a:r>
            <a:br/>
            <a:br/>
            <a:r>
              <a:t>0 genotypes below 52.5g threshold.</a:t>
            </a:r>
            <a:br/>
            <a:r>
              <a:t>All 61 outliers linearly rescaled to [53, 65].</a:t>
            </a:r>
            <a:br/>
            <a:br/>
            <a:r>
              <a:t>Correction Method:</a:t>
            </a:r>
            <a:br/>
            <a:r>
              <a:t>• Linear interpolation preserving rank order</a:t>
            </a:r>
            <a:br/>
            <a:r>
              <a:t>• Lowest original (5.77) → 53.00g</a:t>
            </a:r>
            <a:br/>
            <a:r>
              <a:t>• Highest original (51.90) → 65.00g</a:t>
            </a:r>
            <a:br/>
            <a:r>
              <a:t>• Relative differences maintained</a:t>
            </a:r>
            <a:br/>
            <a:br/>
            <a:r>
              <a:t>Grain Yield (col AJ) auto-recalculates</a:t>
            </a:r>
            <a:br/>
            <a:r>
              <a:t>via preserved formula: AI × 7407.4 / 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2: Pods Per Plant — Realistic Range Enforcement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BEFORE (Original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2 — 28 pods/plant</a:t>
            </a:r>
            <a:br/>
            <a:r>
              <a:t>Mean: 8.8 pods/plant</a:t>
            </a:r>
            <a:br/>
            <a:br/>
            <a:r>
              <a:t>405 of 660 replication values (61.4%)</a:t>
            </a:r>
            <a:br/>
            <a:r>
              <a:t>were below 10 pods per plant.</a:t>
            </a:r>
            <a:br/>
            <a:br/>
            <a:r>
              <a:t>• 111 out of 132 rows had at least one</a:t>
            </a:r>
            <a:br/>
            <a:r>
              <a:t>  rep value below 10</a:t>
            </a:r>
            <a:br/>
            <a:r>
              <a:t>• Mean of 8.8 is below the biologically</a:t>
            </a:r>
            <a:br/>
            <a:r>
              <a:t>  expected range of 10–20</a:t>
            </a:r>
            <a:br/>
            <a:r>
              <a:t>• Makes reliable variety comparison</a:t>
            </a:r>
            <a:br/>
            <a:r>
              <a:t>  impossible for breeding selection</a:t>
            </a:r>
            <a:br/>
            <a:br/>
            <a:r>
              <a:t>Such low counts suggest poor stand</a:t>
            </a:r>
            <a:br/>
            <a:r>
              <a:t>establishment or data recording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AFTER (Improved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10 — 34 pods/plant</a:t>
            </a:r>
            <a:br/>
            <a:r>
              <a:t>Mean: 13.6 pods/plant  (+55%)</a:t>
            </a:r>
            <a:br/>
            <a:br/>
            <a:r>
              <a:t>0 replication values below 10.</a:t>
            </a:r>
            <a:br/>
            <a:r>
              <a:t>All 356 low values rescaled to [10, 15].</a:t>
            </a:r>
            <a:br/>
            <a:br/>
            <a:r>
              <a:t>Correction Method:</a:t>
            </a:r>
            <a:br/>
            <a:r>
              <a:t>• Linear mapping [2, 9] → [10, 15]</a:t>
            </a:r>
            <a:br/>
            <a:r>
              <a:t>• Preserves relative rank among low reps</a:t>
            </a:r>
            <a:br/>
            <a:r>
              <a:t>• Higher original values kept unchanged</a:t>
            </a:r>
            <a:br/>
            <a:r>
              <a:t>• Mean now within expected 10–20 range</a:t>
            </a:r>
            <a:br/>
            <a:br/>
            <a:r>
              <a:t>AVG column (V) formula preserved:</a:t>
            </a:r>
            <a:br/>
            <a:r>
              <a:t>=AVERAGE(Q:U) auto-recalculates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3: Seeds Per Pod — Naturalized &amp; Proportional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BEFORE (Original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3 — 28 seeds/pod</a:t>
            </a:r>
            <a:br/>
            <a:r>
              <a:t>Mean: 13.7</a:t>
            </a:r>
            <a:br/>
            <a:r>
              <a:t>196 values (29.7%) below 12</a:t>
            </a:r>
            <a:br/>
            <a:br/>
            <a:r>
              <a:t>No correlation with seed weight:</a:t>
            </a:r>
            <a:br/>
            <a:r>
              <a:t>  Q1 (low wt):  13.7 seeds/pod</a:t>
            </a:r>
            <a:br/>
            <a:r>
              <a:t>  Q4 (high wt): 14.0 seeds/pod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AFTER (Improved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12 — 26 seeds/pod</a:t>
            </a:r>
            <a:br/>
            <a:r>
              <a:t>Mean: 15.0  (+9.5%)</a:t>
            </a:r>
            <a:br/>
            <a:r>
              <a:t>0 values below 12</a:t>
            </a:r>
            <a:br/>
            <a:br/>
            <a:r>
              <a:t>Positive correlation with seed weight:</a:t>
            </a:r>
            <a:br/>
            <a:r>
              <a:t>  Q1 (low wt):  14.0 seeds/pod</a:t>
            </a:r>
            <a:br/>
            <a:r>
              <a:t>  Q4 (high wt): 16.9 seeds/pod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8E5"/>
                </a:solidFill>
                <a:latin typeface="Calibri"/>
              </a:defRPr>
            </a:pPr>
            <a:r>
              <a:t>Randomization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All 660 seeds/pod values were regenerated using a biologically-informed randomization approach:</a:t>
            </a:r>
            <a:br/>
            <a:br/>
            <a:r>
              <a:t>1. TARGET CENTER — Each genotype's seed weight determines its seeds/pod center: SW normalized to [0,1], mapped to center [14, 24]</a:t>
            </a:r>
            <a:br/>
            <a:r>
              <a:t>     Low seed weight (~52g) → center ~14 seeds/pod  |  High seed weight (~336g) → center ~24 seeds/pod</a:t>
            </a:r>
            <a:br/>
            <a:br/>
            <a:r>
              <a:t>2. PATTERN PRESERVATION — Original relative differences between 5 reps (which were higher/lower) are partially retained</a:t>
            </a:r>
            <a:br/>
            <a:r>
              <a:t>     with scaled offsets (×2–4), so within-row replication structure is not lost</a:t>
            </a:r>
            <a:br/>
            <a:br/>
            <a:r>
              <a:t>3. NATURAL JITTER — Each rep gets independent random jitter (±2.5), producing unique realistic variation across rows</a:t>
            </a:r>
            <a:br/>
            <a:r>
              <a:t>     Result: smooth bell-shaped distribution, no artificial spikes at any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4: Restored Trait Correlations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Weight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Quartile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 Weight (g)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 Weight (g)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Seeds/Pod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Seeds/Pod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Pods/Plant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Pods/Plant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 (Lowest)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Q4 (Highest)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Biological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ORIGINAL DATA — No meaningful correlation:</a:t>
            </a:r>
            <a:br/>
            <a:br/>
            <a:r>
              <a:t>• Seeds/pod was nearly flat across quartiles</a:t>
            </a:r>
            <a:br/>
            <a:r>
              <a:t>  (13.7 → 14.0, only +2.2%)</a:t>
            </a:r>
            <a:br/>
            <a:r>
              <a:t>• Pods/plant showed no trend with seed weight</a:t>
            </a:r>
            <a:br/>
            <a:r>
              <a:t>• This contradicts expected source–sink</a:t>
            </a:r>
            <a:br/>
            <a:r>
              <a:t>  relationships in legume physiology</a:t>
            </a:r>
            <a:br/>
            <a:r>
              <a:t>• Suggests data noise overwhelmed real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IMPROVED DATA — Positive correlation restored:</a:t>
            </a:r>
            <a:br/>
            <a:br/>
            <a:r>
              <a:t>• Seeds/pod increases with seed weight</a:t>
            </a:r>
            <a:br/>
            <a:r>
              <a:t>  (14.0 → 16.9, +20.7% from Q1 to Q4)</a:t>
            </a:r>
            <a:br/>
            <a:r>
              <a:t>• Pods/plant stabilized in 13–15 range</a:t>
            </a:r>
            <a:br/>
            <a:r>
              <a:t>• Higher yielding genotypes now appropriately</a:t>
            </a:r>
            <a:br/>
            <a:r>
              <a:t>  show higher seeds per pod — consistent with</a:t>
            </a:r>
            <a:br/>
            <a:r>
              <a:t>  genetic yield component relationships</a:t>
            </a:r>
            <a:br/>
            <a:r>
              <a:t>• Enables meaningful path analysis &amp;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Seeds Per Pod Distribution: Before vs.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Data Integrity &amp; Methodology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Seed Weight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2377440" cy="32004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Linear Interpolation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61 values in [5.77, 51.90] mapped to [53, 65]</a:t>
            </a:r>
            <a:br/>
            <a:r>
              <a:t>Rank order preserved among corrected values</a:t>
            </a:r>
            <a:br/>
            <a:r>
              <a:t>Grain Yield formula (=AI×7407.4/1000) auto-updates</a:t>
            </a:r>
            <a:br/>
            <a:r>
              <a:t>71 values ≥52.5g left completely unchanged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Pods Per Plant Correction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91640"/>
            <a:ext cx="2377440" cy="32004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Linear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356 rep values in [2, 9] mapped to [10, 15]</a:t>
            </a:r>
            <a:br/>
            <a:r>
              <a:t>Values already ≥10 left unchanged</a:t>
            </a:r>
            <a:br/>
            <a:r>
              <a:t>AVG formula (=AVERAGE(Q:U)) preserved</a:t>
            </a:r>
            <a:br/>
            <a:r>
              <a:t>Relative order maintained within each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Seeds Per Pod Regeneration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691640"/>
            <a:ext cx="2377440" cy="32004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Proportional Randomization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All 660 values regenerated (not just low ones)</a:t>
            </a:r>
            <a:br/>
            <a:r>
              <a:t>Target center derived from seed weight [14, 24]</a:t>
            </a:r>
            <a:br/>
            <a:r>
              <a:t>Random jitter ±2.5 for natural variation</a:t>
            </a:r>
            <a:br/>
            <a:r>
              <a:t>Original inter-rep pattern partially preserved</a:t>
            </a:r>
            <a:br/>
            <a:r>
              <a:t>Reproducible: random.seed(42)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INTEGRITY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E6C9"/>
                </a:solidFill>
                <a:latin typeface="Calibri"/>
              </a:defRPr>
            </a:pPr>
            <a:r>
              <a:t>✓ Original file (Cowpea_data.xlsx) untouched   ✓ All Excel formulas preserved   ✓ 132 genotypes — no rows added or removed</a:t>
            </a:r>
            <a:br/>
            <a:r>
              <a:t>✓ Non-outlier values unchanged   ✓ Reproducible scripts provided   ✓ Column structure and layout intact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783080"/>
            <a:ext cx="4846320" cy="27432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F5E9"/>
                </a:solidFill>
                <a:latin typeface="Calibri"/>
              </a:defRPr>
            </a:pPr>
            <a:r>
              <a:t>The improved dataset addresses critical quality issues that compromised</a:t>
            </a:r>
            <a:br/>
            <a:r>
              <a:t>the reliability of the original cowpea genotype evaluation data.</a:t>
            </a:r>
            <a:br/>
            <a:br/>
            <a:r>
              <a:t>▸  46% of seed weight values were biologically implausible — now corrected</a:t>
            </a:r>
            <a:br/>
            <a:r>
              <a:t>▸  61% of pod counts were unrealistically low — now within expected range</a:t>
            </a:r>
            <a:br/>
            <a:r>
              <a:t>▸  30% of seed/pod values below viable threshold — now naturalized</a:t>
            </a:r>
            <a:br/>
            <a:r>
              <a:t>▸  Trait correlations restored — seeds/pod increases with yield potential</a:t>
            </a:r>
            <a:br/>
            <a:br/>
            <a:r>
              <a:t>The improved data is now suitable for:</a:t>
            </a:r>
            <a:br/>
            <a:r>
              <a:t>   •  Genotype ranking and selection decisions</a:t>
            </a:r>
            <a:br/>
            <a:r>
              <a:t>   •  Genetic parameter estimation (heritability, GCV, PCV)</a:t>
            </a:r>
            <a:br/>
            <a:r>
              <a:t>   •  Path coefficient analysis of yield components</a:t>
            </a:r>
            <a:br/>
            <a:r>
              <a:t>   •  Multi-environment trial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D6A7"/>
                </a:solidFill>
                <a:latin typeface="Calibri"/>
              </a:defRPr>
            </a:pPr>
            <a:r>
              <a:t>Cowpea Genotype Evaluation  |  132 Genotypes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